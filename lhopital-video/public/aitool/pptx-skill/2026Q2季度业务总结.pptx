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营收（万元）</c:v>
                </c:pt>
              </c:strCache>
            </c:strRef>
          </c:tx>
          <c:spPr>
            <a:solidFill>
              <a:srgbClr val="E8B5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5F7FA"/>
                    </a:solidFill>
                    <a:latin typeface="PingFang S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 月</c:v>
                  </c:pt>
                  <c:pt idx="1">
                    <c:v>3 月</c:v>
                  </c:pt>
                  <c:pt idx="2">
                    <c:v>4 月</c:v>
                  </c:pt>
                  <c:pt idx="3">
                    <c:v>5 月</c:v>
                  </c:pt>
                  <c:pt idx="4">
                    <c:v>6 月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820</c:v>
                </c:pt>
                <c:pt idx="1">
                  <c:v>910</c:v>
                </c:pt>
                <c:pt idx="2">
                  <c:v>870</c:v>
                </c:pt>
                <c:pt idx="3">
                  <c:v>1020</c:v>
                </c:pt>
                <c:pt idx="4">
                  <c:v>1340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5F7FA"/>
                  </a:solidFill>
                  <a:latin typeface="PingFang S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43450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DB0CB"/>
                </a:solidFill>
                <a:latin typeface="PingFang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434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677F"/>
                </a:solidFill>
                <a:latin typeface="PingFang S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E1626"/>
        </a:solidFill>
        <a:ln>
          <a:noFill/>
        </a:ln>
        <a:effectLst/>
      </c:spPr>
    </c:plotArea>
    <c:plotVisOnly val="1"/>
    <c:dispBlanksAs val="span"/>
  </c:chart>
  <c:spPr>
    <a:solidFill>
      <a:srgbClr val="0E1626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营收占比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8B54A"/>
              </a:solidFill>
              <a:effectLst/>
            </c:spPr>
          </c:dPt>
          <c:dPt>
            <c:idx val="1"/>
            <c:bubble3D val="0"/>
            <c:spPr>
              <a:solidFill>
                <a:srgbClr val="5B8DEF"/>
              </a:solidFill>
              <a:effectLst/>
            </c:spPr>
          </c:dPt>
          <c:dPt>
            <c:idx val="2"/>
            <c:bubble3D val="0"/>
            <c:spPr>
              <a:solidFill>
                <a:srgbClr val="55677F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E1626"/>
                      </a:solidFill>
                      <a:latin typeface="PingFang SC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E1626"/>
                      </a:solidFill>
                      <a:latin typeface="PingFang SC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E1626"/>
                      </a:solidFill>
                      <a:latin typeface="PingFang SC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企业版</c:v>
                </c:pt>
                <c:pt idx="1">
                  <c:v>团队版</c:v>
                </c:pt>
                <c:pt idx="2">
                  <c:v>个人版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58</c:v>
                </c:pt>
                <c:pt idx="1">
                  <c:v>27</c:v>
                </c:pt>
                <c:pt idx="2">
                  <c:v>15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</c:chart>
  <c:spPr>
    <a:solidFill>
      <a:srgbClr val="0E1626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0" y="640080"/>
            <a:ext cx="39319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3000" b="1" dirty="0">
                <a:solidFill>
                  <a:srgbClr val="1724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Q2</a:t>
            </a:r>
            <a:endParaRPr lang="en-US" sz="23000" dirty="0"/>
          </a:p>
        </p:txBody>
      </p:sp>
      <p:sp>
        <p:nvSpPr>
          <p:cNvPr id="3" name="Shape 1"/>
          <p:cNvSpPr/>
          <p:nvPr/>
        </p:nvSpPr>
        <p:spPr>
          <a:xfrm>
            <a:off x="548640" y="932688"/>
            <a:ext cx="128016" cy="128016"/>
          </a:xfrm>
          <a:prstGeom prst="rect">
            <a:avLst/>
          </a:prstGeom>
          <a:solidFill>
            <a:srgbClr val="E8B54A"/>
          </a:solidFill>
          <a:ln/>
        </p:spPr>
      </p:sp>
      <p:sp>
        <p:nvSpPr>
          <p:cNvPr id="4" name="Text 2"/>
          <p:cNvSpPr/>
          <p:nvPr/>
        </p:nvSpPr>
        <p:spPr>
          <a:xfrm>
            <a:off x="786384" y="804672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B5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管理层季度例会 · QUARTERLY BUSINESS REVIEW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6858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b="1" dirty="0">
                <a:solidFill>
                  <a:srgbClr val="E8B5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 Q2</a:t>
            </a:r>
            <a:endParaRPr lang="en-US" sz="4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600" b="1" dirty="0">
                <a:solidFill>
                  <a:srgbClr val="F5F7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季度业务总结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48640" y="315468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DB0C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整体超预期完成 —— 营收、用户规模、交付质量三条主线全部达标，新客增长是核心驱动。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434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677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数据口径　2026-04-01 ~ 2026-06-30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960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77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 Q2 · 季度业务总结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7960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77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402336"/>
            <a:ext cx="109728" cy="109728"/>
          </a:xfrm>
          <a:prstGeom prst="rect">
            <a:avLst/>
          </a:prstGeom>
          <a:solidFill>
            <a:srgbClr val="E8B54A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274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8B5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KEY METRICS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65836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核心指标 · 全线上行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3886200" cy="1572768"/>
          </a:xfrm>
          <a:prstGeom prst="rect">
            <a:avLst/>
          </a:prstGeom>
          <a:solidFill>
            <a:srgbClr val="17243A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481328"/>
            <a:ext cx="64008" cy="1572768"/>
          </a:xfrm>
          <a:prstGeom prst="rect">
            <a:avLst/>
          </a:prstGeom>
          <a:solidFill>
            <a:srgbClr val="E8B54A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1645920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7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+38%  </a:t>
            </a:r>
            <a:pPr indent="0" marL="0">
              <a:buNone/>
            </a:pPr>
            <a:r>
              <a:rPr lang="en-US" sz="1100" dirty="0">
                <a:solidFill>
                  <a:srgbClr val="3FBF8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▲ 同比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841248" y="2286000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7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营收同比增长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41248" y="2615184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C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连续第三个季度加速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1481328"/>
            <a:ext cx="3886200" cy="1572768"/>
          </a:xfrm>
          <a:prstGeom prst="rect">
            <a:avLst/>
          </a:prstGeom>
          <a:solidFill>
            <a:srgbClr val="17243A"/>
          </a:solidFill>
          <a:ln/>
        </p:spPr>
      </p:sp>
      <p:sp>
        <p:nvSpPr>
          <p:cNvPr id="13" name="Shape 11"/>
          <p:cNvSpPr/>
          <p:nvPr/>
        </p:nvSpPr>
        <p:spPr>
          <a:xfrm>
            <a:off x="4709160" y="1481328"/>
            <a:ext cx="64008" cy="1572768"/>
          </a:xfrm>
          <a:prstGeom prst="rect">
            <a:avLst/>
          </a:prstGeom>
          <a:solidFill>
            <a:srgbClr val="E8B54A"/>
          </a:solidFill>
          <a:ln/>
        </p:spPr>
      </p:sp>
      <p:sp>
        <p:nvSpPr>
          <p:cNvPr id="14" name="Text 12"/>
          <p:cNvSpPr/>
          <p:nvPr/>
        </p:nvSpPr>
        <p:spPr>
          <a:xfrm>
            <a:off x="5001768" y="1645920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7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12.6 万  </a:t>
            </a:r>
            <a:pPr indent="0" marL="0">
              <a:buNone/>
            </a:pPr>
            <a:r>
              <a:rPr lang="en-US" sz="1100" dirty="0">
                <a:solidFill>
                  <a:srgbClr val="3FBF8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▲ 同比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5001768" y="2286000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7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本季新增用户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001768" y="2615184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C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获客成本环比下降 14%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310128"/>
            <a:ext cx="3886200" cy="1572768"/>
          </a:xfrm>
          <a:prstGeom prst="rect">
            <a:avLst/>
          </a:prstGeom>
          <a:solidFill>
            <a:srgbClr val="17243A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3310128"/>
            <a:ext cx="64008" cy="1572768"/>
          </a:xfrm>
          <a:prstGeom prst="rect">
            <a:avLst/>
          </a:prstGeom>
          <a:solidFill>
            <a:srgbClr val="E8B54A"/>
          </a:solidFill>
          <a:ln/>
        </p:spPr>
      </p:sp>
      <p:sp>
        <p:nvSpPr>
          <p:cNvPr id="19" name="Text 17"/>
          <p:cNvSpPr/>
          <p:nvPr/>
        </p:nvSpPr>
        <p:spPr>
          <a:xfrm>
            <a:off x="841248" y="3474720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7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98.2%  </a:t>
            </a:r>
            <a:pPr indent="0" marL="0">
              <a:buNone/>
            </a:pPr>
            <a:r>
              <a:rPr lang="en-US" sz="1100" dirty="0">
                <a:solidFill>
                  <a:srgbClr val="3FBF8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▲ 同比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841248" y="4114800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7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交付准时率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41248" y="4443984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C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创历史新高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3310128"/>
            <a:ext cx="3886200" cy="1572768"/>
          </a:xfrm>
          <a:prstGeom prst="rect">
            <a:avLst/>
          </a:prstGeom>
          <a:solidFill>
            <a:srgbClr val="17243A"/>
          </a:solidFill>
          <a:ln/>
        </p:spPr>
      </p:sp>
      <p:sp>
        <p:nvSpPr>
          <p:cNvPr id="23" name="Shape 21"/>
          <p:cNvSpPr/>
          <p:nvPr/>
        </p:nvSpPr>
        <p:spPr>
          <a:xfrm>
            <a:off x="4709160" y="3310128"/>
            <a:ext cx="64008" cy="1572768"/>
          </a:xfrm>
          <a:prstGeom prst="rect">
            <a:avLst/>
          </a:prstGeom>
          <a:solidFill>
            <a:srgbClr val="E8B54A"/>
          </a:solidFill>
          <a:ln/>
        </p:spPr>
      </p:sp>
      <p:sp>
        <p:nvSpPr>
          <p:cNvPr id="24" name="Text 22"/>
          <p:cNvSpPr/>
          <p:nvPr/>
        </p:nvSpPr>
        <p:spPr>
          <a:xfrm>
            <a:off x="5001768" y="3474720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7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4.8 / 5  </a:t>
            </a:r>
            <a:pPr indent="0" marL="0">
              <a:buNone/>
            </a:pPr>
            <a:r>
              <a:rPr lang="en-US" sz="1100" dirty="0">
                <a:solidFill>
                  <a:srgbClr val="3FBF8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▲ 同比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5001768" y="4114800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7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客户满意度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001768" y="4443984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C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NPS 提升 11 个点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960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77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 Q2 · 季度业务总结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7960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77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402336"/>
            <a:ext cx="109728" cy="109728"/>
          </a:xfrm>
          <a:prstGeom prst="rect">
            <a:avLst/>
          </a:prstGeom>
          <a:solidFill>
            <a:srgbClr val="E8B54A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274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8B5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REVENUE TREND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65836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营收走势 · 逐月上行，6 月跳升</a:t>
            </a:r>
            <a:endParaRPr lang="en-US" sz="28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1417320"/>
          <a:ext cx="539496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263640" y="1417320"/>
            <a:ext cx="2331720" cy="3154680"/>
          </a:xfrm>
          <a:prstGeom prst="rect">
            <a:avLst/>
          </a:prstGeom>
          <a:solidFill>
            <a:srgbClr val="17243A"/>
          </a:solidFill>
          <a:ln/>
        </p:spPr>
      </p:sp>
      <p:sp>
        <p:nvSpPr>
          <p:cNvPr id="9" name="Shape 6"/>
          <p:cNvSpPr/>
          <p:nvPr/>
        </p:nvSpPr>
        <p:spPr>
          <a:xfrm>
            <a:off x="6263640" y="1417320"/>
            <a:ext cx="64008" cy="3154680"/>
          </a:xfrm>
          <a:prstGeom prst="rect">
            <a:avLst/>
          </a:prstGeom>
          <a:solidFill>
            <a:srgbClr val="E8B54A"/>
          </a:solidFill>
          <a:ln/>
        </p:spPr>
      </p:sp>
      <p:sp>
        <p:nvSpPr>
          <p:cNvPr id="10" name="Text 7"/>
          <p:cNvSpPr/>
          <p:nvPr/>
        </p:nvSpPr>
        <p:spPr>
          <a:xfrm>
            <a:off x="6537960" y="16916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B5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1,340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6537960" y="23774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0C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万元 · 6 月单月营收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537960" y="297180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3FBF8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环比 +31%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9DB0C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跳升主要来自新签的两个企业大客户。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960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77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 Q2 · 季度业务总结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7960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77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402336"/>
            <a:ext cx="109728" cy="109728"/>
          </a:xfrm>
          <a:prstGeom prst="rect">
            <a:avLst/>
          </a:prstGeom>
          <a:solidFill>
            <a:srgbClr val="E8B54A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274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8B5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REVENUE MIX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65836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业务构成 · 企业版占比首次过半</a:t>
            </a:r>
            <a:endParaRPr lang="en-US" sz="28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1371600"/>
          <a:ext cx="40233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4754880" y="1481328"/>
            <a:ext cx="3840480" cy="932688"/>
          </a:xfrm>
          <a:prstGeom prst="rect">
            <a:avLst/>
          </a:prstGeom>
          <a:solidFill>
            <a:srgbClr val="17243A"/>
          </a:solidFill>
          <a:ln/>
        </p:spPr>
      </p:sp>
      <p:sp>
        <p:nvSpPr>
          <p:cNvPr id="9" name="Shape 6"/>
          <p:cNvSpPr/>
          <p:nvPr/>
        </p:nvSpPr>
        <p:spPr>
          <a:xfrm>
            <a:off x="4992624" y="1719072"/>
            <a:ext cx="182880" cy="182880"/>
          </a:xfrm>
          <a:prstGeom prst="rect">
            <a:avLst/>
          </a:prstGeom>
          <a:solidFill>
            <a:srgbClr val="E8B54A"/>
          </a:solidFill>
          <a:ln/>
        </p:spPr>
      </p:sp>
      <p:sp>
        <p:nvSpPr>
          <p:cNvPr id="10" name="Text 7"/>
          <p:cNvSpPr/>
          <p:nvPr/>
        </p:nvSpPr>
        <p:spPr>
          <a:xfrm>
            <a:off x="5303520" y="159105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企业版　</a:t>
            </a:r>
            <a:pPr indent="0" marL="0">
              <a:buNone/>
            </a:pPr>
            <a:r>
              <a:rPr lang="en-US" sz="1600" b="1" dirty="0">
                <a:solidFill>
                  <a:srgbClr val="E8B5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58%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303520" y="1984248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C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首次过半，结构优化的关键信号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54880" y="2578608"/>
            <a:ext cx="3840480" cy="932688"/>
          </a:xfrm>
          <a:prstGeom prst="rect">
            <a:avLst/>
          </a:prstGeom>
          <a:solidFill>
            <a:srgbClr val="17243A"/>
          </a:solidFill>
          <a:ln/>
        </p:spPr>
      </p:sp>
      <p:sp>
        <p:nvSpPr>
          <p:cNvPr id="13" name="Shape 10"/>
          <p:cNvSpPr/>
          <p:nvPr/>
        </p:nvSpPr>
        <p:spPr>
          <a:xfrm>
            <a:off x="4992624" y="2816352"/>
            <a:ext cx="182880" cy="18288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4" name="Text 11"/>
          <p:cNvSpPr/>
          <p:nvPr/>
        </p:nvSpPr>
        <p:spPr>
          <a:xfrm>
            <a:off x="5303520" y="268833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团队版　</a:t>
            </a:r>
            <a:pPr indent="0" marL="0">
              <a:buNone/>
            </a:pPr>
            <a:r>
              <a:rPr lang="en-US" sz="1600" b="1" dirty="0">
                <a:solidFill>
                  <a:srgbClr val="5B8DE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27%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303520" y="3081528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C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Q3 协作功能上线后的升级主力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754880" y="3675888"/>
            <a:ext cx="3840480" cy="932688"/>
          </a:xfrm>
          <a:prstGeom prst="rect">
            <a:avLst/>
          </a:prstGeom>
          <a:solidFill>
            <a:srgbClr val="17243A"/>
          </a:solidFill>
          <a:ln/>
        </p:spPr>
      </p:sp>
      <p:sp>
        <p:nvSpPr>
          <p:cNvPr id="17" name="Shape 14"/>
          <p:cNvSpPr/>
          <p:nvPr/>
        </p:nvSpPr>
        <p:spPr>
          <a:xfrm>
            <a:off x="4992624" y="3913632"/>
            <a:ext cx="182880" cy="182880"/>
          </a:xfrm>
          <a:prstGeom prst="rect">
            <a:avLst/>
          </a:prstGeom>
          <a:solidFill>
            <a:srgbClr val="55677F"/>
          </a:solidFill>
          <a:ln/>
        </p:spPr>
      </p:sp>
      <p:sp>
        <p:nvSpPr>
          <p:cNvPr id="18" name="Text 15"/>
          <p:cNvSpPr/>
          <p:nvPr/>
        </p:nvSpPr>
        <p:spPr>
          <a:xfrm>
            <a:off x="5303520" y="378561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个人版　</a:t>
            </a:r>
            <a:pPr indent="0" marL="0">
              <a:buNone/>
            </a:pPr>
            <a:r>
              <a:rPr lang="en-US" sz="1600" b="1" dirty="0">
                <a:solidFill>
                  <a:srgbClr val="55677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15%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303520" y="4178808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C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续费率偏低，待激活召回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960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77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 Q2 · 季度业务总结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7960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77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402336"/>
            <a:ext cx="109728" cy="109728"/>
          </a:xfrm>
          <a:prstGeom prst="rect">
            <a:avLst/>
          </a:prstGeom>
          <a:solidFill>
            <a:srgbClr val="E8B54A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274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8B5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GROWTH DRIVERS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65836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增长归因 · 三大来源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2587752" cy="3108960"/>
          </a:xfrm>
          <a:prstGeom prst="rect">
            <a:avLst/>
          </a:prstGeom>
          <a:solidFill>
            <a:srgbClr val="17243A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463040"/>
            <a:ext cx="2587752" cy="64008"/>
          </a:xfrm>
          <a:prstGeom prst="rect">
            <a:avLst/>
          </a:prstGeom>
          <a:solidFill>
            <a:srgbClr val="E8B54A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1737360"/>
            <a:ext cx="207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B54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04672" y="2176272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41%</a:t>
            </a:r>
            <a:endParaRPr lang="en-US" sz="3200" dirty="0"/>
          </a:p>
          <a:p>
            <a:pPr indent="0" marL="0">
              <a:buNone/>
            </a:pPr>
            <a:r>
              <a:rPr lang="en-US" sz="1050" dirty="0">
                <a:solidFill>
                  <a:srgbClr val="55677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占新增用户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804672" y="3246120"/>
            <a:ext cx="2075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5F7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渠道合作带来的新客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04672" y="379476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DB0C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渠道侧是本季获客的最大引擎，但头部集中度需关注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342132" y="1463040"/>
            <a:ext cx="2587752" cy="3108960"/>
          </a:xfrm>
          <a:prstGeom prst="rect">
            <a:avLst/>
          </a:prstGeom>
          <a:solidFill>
            <a:srgbClr val="17243A"/>
          </a:solidFill>
          <a:ln/>
        </p:spPr>
      </p:sp>
      <p:sp>
        <p:nvSpPr>
          <p:cNvPr id="14" name="Shape 12"/>
          <p:cNvSpPr/>
          <p:nvPr/>
        </p:nvSpPr>
        <p:spPr>
          <a:xfrm>
            <a:off x="3342132" y="1463040"/>
            <a:ext cx="2587752" cy="64008"/>
          </a:xfrm>
          <a:prstGeom prst="rect">
            <a:avLst/>
          </a:prstGeom>
          <a:solidFill>
            <a:srgbClr val="E8B54A"/>
          </a:solidFill>
          <a:ln/>
        </p:spPr>
      </p:sp>
      <p:sp>
        <p:nvSpPr>
          <p:cNvPr id="15" name="Text 13"/>
          <p:cNvSpPr/>
          <p:nvPr/>
        </p:nvSpPr>
        <p:spPr>
          <a:xfrm>
            <a:off x="3598164" y="1737360"/>
            <a:ext cx="207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B54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598164" y="2176272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33%</a:t>
            </a:r>
            <a:endParaRPr lang="en-US" sz="3200" dirty="0"/>
          </a:p>
          <a:p>
            <a:pPr indent="0" marL="0">
              <a:buNone/>
            </a:pPr>
            <a:r>
              <a:rPr lang="en-US" sz="1050" dirty="0">
                <a:solidFill>
                  <a:srgbClr val="55677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占营收增量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3598164" y="3246120"/>
            <a:ext cx="2075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5F7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老客户扩容升级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598164" y="379476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DB0C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存量客户价值释放，验证产品粘性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35624" y="1463040"/>
            <a:ext cx="2587752" cy="3108960"/>
          </a:xfrm>
          <a:prstGeom prst="rect">
            <a:avLst/>
          </a:prstGeom>
          <a:solidFill>
            <a:srgbClr val="17243A"/>
          </a:solidFill>
          <a:ln/>
        </p:spPr>
      </p:sp>
      <p:sp>
        <p:nvSpPr>
          <p:cNvPr id="20" name="Shape 18"/>
          <p:cNvSpPr/>
          <p:nvPr/>
        </p:nvSpPr>
        <p:spPr>
          <a:xfrm>
            <a:off x="6135624" y="1463040"/>
            <a:ext cx="2587752" cy="64008"/>
          </a:xfrm>
          <a:prstGeom prst="rect">
            <a:avLst/>
          </a:prstGeom>
          <a:solidFill>
            <a:srgbClr val="E8B54A"/>
          </a:solidFill>
          <a:ln/>
        </p:spPr>
      </p:sp>
      <p:sp>
        <p:nvSpPr>
          <p:cNvPr id="21" name="Text 19"/>
          <p:cNvSpPr/>
          <p:nvPr/>
        </p:nvSpPr>
        <p:spPr>
          <a:xfrm>
            <a:off x="6391656" y="1737360"/>
            <a:ext cx="207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B54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391656" y="2176272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+6.2pt</a:t>
            </a:r>
            <a:endParaRPr lang="en-US" sz="3200" dirty="0"/>
          </a:p>
          <a:p>
            <a:pPr indent="0" marL="0">
              <a:buNone/>
            </a:pPr>
            <a:r>
              <a:rPr lang="en-US" sz="1050" dirty="0">
                <a:solidFill>
                  <a:srgbClr val="55677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注册转付费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6391656" y="3246120"/>
            <a:ext cx="2075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5F7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产品改版后的转化提升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391656" y="379476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DB0C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改版直接抬升漏斗效率，获客成本随之下降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960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77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 Q2 · 季度业务总结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7960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77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402336"/>
            <a:ext cx="109728" cy="109728"/>
          </a:xfrm>
          <a:prstGeom prst="rect">
            <a:avLst/>
          </a:prstGeom>
          <a:solidFill>
            <a:srgbClr val="E8B54A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274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8B5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RISKS &amp; CHALLENGES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65836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风险与挑战 · 三件事需要现在动手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8046720" cy="950976"/>
          </a:xfrm>
          <a:prstGeom prst="rect">
            <a:avLst/>
          </a:prstGeom>
          <a:solidFill>
            <a:srgbClr val="17243A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463040"/>
            <a:ext cx="64008" cy="950976"/>
          </a:xfrm>
          <a:prstGeom prst="rect">
            <a:avLst/>
          </a:prstGeom>
          <a:solidFill>
            <a:srgbClr val="E06C5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572768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6C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71%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377440" y="1618488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7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个人版续费率偏低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2377440" y="1975104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C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低于健康水位，需要在 Q3 启动激活召回动作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578608"/>
            <a:ext cx="8046720" cy="950976"/>
          </a:xfrm>
          <a:prstGeom prst="rect">
            <a:avLst/>
          </a:prstGeom>
          <a:solidFill>
            <a:srgbClr val="17243A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2578608"/>
            <a:ext cx="64008" cy="950976"/>
          </a:xfrm>
          <a:prstGeom prst="rect">
            <a:avLst/>
          </a:prstGeom>
          <a:solidFill>
            <a:srgbClr val="E06C5A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688336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6C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集中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377440" y="2734056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7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头部渠道集中度过高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2377440" y="3090672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C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获客成本虽降，单一渠道依赖是结构性风险，需拓展渠道组合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694176"/>
            <a:ext cx="8046720" cy="950976"/>
          </a:xfrm>
          <a:prstGeom prst="rect">
            <a:avLst/>
          </a:prstGeom>
          <a:solidFill>
            <a:srgbClr val="17243A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3694176"/>
            <a:ext cx="64008" cy="950976"/>
          </a:xfrm>
          <a:prstGeom prst="rect">
            <a:avLst/>
          </a:prstGeom>
          <a:solidFill>
            <a:srgbClr val="E06C5A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803904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6C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满载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2377440" y="3849624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7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交付团队接近满负荷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2377440" y="4206240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C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增长持续将击穿产能上限，扩容必须前置启动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960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77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 Q2 · 季度业务总结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7960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77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402336"/>
            <a:ext cx="109728" cy="109728"/>
          </a:xfrm>
          <a:prstGeom prst="rect">
            <a:avLst/>
          </a:prstGeom>
          <a:solidFill>
            <a:srgbClr val="E8B54A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274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8B5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Q3 ROADMAP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65836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下季度路线 · 2026 Q3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2587752" cy="868680"/>
          </a:xfrm>
          <a:prstGeom prst="rect">
            <a:avLst/>
          </a:prstGeom>
          <a:solidFill>
            <a:srgbClr val="1D2D49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371600"/>
            <a:ext cx="2130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B5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+20%　</a:t>
            </a:r>
            <a:pPr indent="0" marL="0">
              <a:buNone/>
            </a:pPr>
            <a:r>
              <a:rPr lang="en-US" sz="1150" dirty="0">
                <a:solidFill>
                  <a:srgbClr val="9DB0C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营收环比目标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342132" y="1371600"/>
            <a:ext cx="2587752" cy="868680"/>
          </a:xfrm>
          <a:prstGeom prst="rect">
            <a:avLst/>
          </a:prstGeom>
          <a:solidFill>
            <a:srgbClr val="1D2D49"/>
          </a:solidFill>
          <a:ln/>
        </p:spPr>
      </p:sp>
      <p:sp>
        <p:nvSpPr>
          <p:cNvPr id="10" name="Text 8"/>
          <p:cNvSpPr/>
          <p:nvPr/>
        </p:nvSpPr>
        <p:spPr>
          <a:xfrm>
            <a:off x="3570732" y="1371600"/>
            <a:ext cx="2130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B5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65%　</a:t>
            </a:r>
            <a:pPr indent="0" marL="0">
              <a:buNone/>
            </a:pPr>
            <a:r>
              <a:rPr lang="en-US" sz="1150" dirty="0">
                <a:solidFill>
                  <a:srgbClr val="9DB0C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企业版营收占比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135624" y="1371600"/>
            <a:ext cx="2587752" cy="868680"/>
          </a:xfrm>
          <a:prstGeom prst="rect">
            <a:avLst/>
          </a:prstGeom>
          <a:solidFill>
            <a:srgbClr val="1D2D49"/>
          </a:solidFill>
          <a:ln/>
        </p:spPr>
      </p:sp>
      <p:sp>
        <p:nvSpPr>
          <p:cNvPr id="12" name="Text 10"/>
          <p:cNvSpPr/>
          <p:nvPr/>
        </p:nvSpPr>
        <p:spPr>
          <a:xfrm>
            <a:off x="6364224" y="1371600"/>
            <a:ext cx="2130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B5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80%+　</a:t>
            </a:r>
            <a:pPr indent="0" marL="0">
              <a:buNone/>
            </a:pPr>
            <a:r>
              <a:rPr lang="en-US" sz="1150" dirty="0">
                <a:solidFill>
                  <a:srgbClr val="9DB0C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整体续费率目标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48640" y="2514600"/>
            <a:ext cx="2587752" cy="2011680"/>
          </a:xfrm>
          <a:prstGeom prst="rect">
            <a:avLst/>
          </a:prstGeom>
          <a:solidFill>
            <a:srgbClr val="17243A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2514600"/>
            <a:ext cx="2587752" cy="64008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2770632"/>
            <a:ext cx="2075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8DE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重点一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04672" y="3136392"/>
            <a:ext cx="2075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F5F7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上线团队协作功能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04672" y="370332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DB0C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撬动团队版升级，承接企业版之外的第二增长曲线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342132" y="2514600"/>
            <a:ext cx="2587752" cy="2011680"/>
          </a:xfrm>
          <a:prstGeom prst="rect">
            <a:avLst/>
          </a:prstGeom>
          <a:solidFill>
            <a:srgbClr val="17243A"/>
          </a:solidFill>
          <a:ln/>
        </p:spPr>
      </p:sp>
      <p:sp>
        <p:nvSpPr>
          <p:cNvPr id="19" name="Shape 17"/>
          <p:cNvSpPr/>
          <p:nvPr/>
        </p:nvSpPr>
        <p:spPr>
          <a:xfrm>
            <a:off x="3342132" y="2514600"/>
            <a:ext cx="2587752" cy="64008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20" name="Text 18"/>
          <p:cNvSpPr/>
          <p:nvPr/>
        </p:nvSpPr>
        <p:spPr>
          <a:xfrm>
            <a:off x="3598164" y="2770632"/>
            <a:ext cx="2075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8DE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重点二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598164" y="3136392"/>
            <a:ext cx="2075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F5F7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搭建客户成功体系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3598164" y="370332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DB0C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把续费率拉到 80% 以上，对冲个人版流失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35624" y="2514600"/>
            <a:ext cx="2587752" cy="2011680"/>
          </a:xfrm>
          <a:prstGeom prst="rect">
            <a:avLst/>
          </a:prstGeom>
          <a:solidFill>
            <a:srgbClr val="17243A"/>
          </a:solidFill>
          <a:ln/>
        </p:spPr>
      </p:sp>
      <p:sp>
        <p:nvSpPr>
          <p:cNvPr id="24" name="Shape 22"/>
          <p:cNvSpPr/>
          <p:nvPr/>
        </p:nvSpPr>
        <p:spPr>
          <a:xfrm>
            <a:off x="6135624" y="2514600"/>
            <a:ext cx="2587752" cy="64008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25" name="Text 23"/>
          <p:cNvSpPr/>
          <p:nvPr/>
        </p:nvSpPr>
        <p:spPr>
          <a:xfrm>
            <a:off x="6391656" y="2770632"/>
            <a:ext cx="2075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8DE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重点三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91656" y="3136392"/>
            <a:ext cx="2075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F5F7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交付团队扩编 30%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391656" y="370332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DB0C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前置扩容，保住 98%+ 的交付准时率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0" y="640080"/>
            <a:ext cx="39319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3000" b="1" dirty="0">
                <a:solidFill>
                  <a:srgbClr val="1724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Q3</a:t>
            </a:r>
            <a:endParaRPr lang="en-US" sz="23000" dirty="0"/>
          </a:p>
        </p:txBody>
      </p:sp>
      <p:sp>
        <p:nvSpPr>
          <p:cNvPr id="3" name="Shape 1"/>
          <p:cNvSpPr/>
          <p:nvPr/>
        </p:nvSpPr>
        <p:spPr>
          <a:xfrm>
            <a:off x="548640" y="969264"/>
            <a:ext cx="128016" cy="128016"/>
          </a:xfrm>
          <a:prstGeom prst="rect">
            <a:avLst/>
          </a:prstGeom>
          <a:solidFill>
            <a:srgbClr val="E8B54A"/>
          </a:solidFill>
          <a:ln/>
        </p:spPr>
      </p:sp>
      <p:sp>
        <p:nvSpPr>
          <p:cNvPr id="4" name="Text 2"/>
          <p:cNvSpPr/>
          <p:nvPr/>
        </p:nvSpPr>
        <p:spPr>
          <a:xfrm>
            <a:off x="786384" y="84124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B5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CLOSING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6949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F5F7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Q2 用增长证明了模式跑通，</a:t>
            </a:r>
            <a:endParaRPr lang="en-US" sz="3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F5F7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Q3 的命题是让增长</a:t>
            </a:r>
            <a:pPr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E8B5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可持续</a:t>
            </a:r>
            <a:pPr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F5F7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。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290779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B0C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请管理层在以下两项上给到支持：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364992"/>
            <a:ext cx="2926080" cy="1051560"/>
          </a:xfrm>
          <a:prstGeom prst="rect">
            <a:avLst/>
          </a:prstGeom>
          <a:solidFill>
            <a:srgbClr val="17243A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364992"/>
            <a:ext cx="64008" cy="1051560"/>
          </a:xfrm>
          <a:prstGeom prst="rect">
            <a:avLst/>
          </a:prstGeom>
          <a:solidFill>
            <a:srgbClr val="E8B54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51129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渠道预算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87705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DB0C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拓展渠道组合，降低头部集中风险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703320" y="3364992"/>
            <a:ext cx="2926080" cy="1051560"/>
          </a:xfrm>
          <a:prstGeom prst="rect">
            <a:avLst/>
          </a:prstGeom>
          <a:solidFill>
            <a:srgbClr val="17243A"/>
          </a:solidFill>
          <a:ln/>
        </p:spPr>
      </p:sp>
      <p:sp>
        <p:nvSpPr>
          <p:cNvPr id="12" name="Shape 10"/>
          <p:cNvSpPr/>
          <p:nvPr/>
        </p:nvSpPr>
        <p:spPr>
          <a:xfrm>
            <a:off x="3703320" y="3364992"/>
            <a:ext cx="64008" cy="1051560"/>
          </a:xfrm>
          <a:prstGeom prst="rect">
            <a:avLst/>
          </a:prstGeom>
          <a:solidFill>
            <a:srgbClr val="E8B54A"/>
          </a:solidFill>
          <a:ln/>
        </p:spPr>
      </p:sp>
      <p:sp>
        <p:nvSpPr>
          <p:cNvPr id="13" name="Text 11"/>
          <p:cNvSpPr/>
          <p:nvPr/>
        </p:nvSpPr>
        <p:spPr>
          <a:xfrm>
            <a:off x="3977640" y="351129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交付扩编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977640" y="387705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DB0C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团队扩编 30%，保障准时率与产能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Q2 季度业务总结</dc:title>
  <dc:subject>PptxGenJS Presentation</dc:subject>
  <dc:creator>PptxGenJS</dc:creator>
  <cp:lastModifiedBy>PptxGenJS</cp:lastModifiedBy>
  <cp:revision>1</cp:revision>
  <dcterms:created xsi:type="dcterms:W3CDTF">2026-06-10T16:43:31Z</dcterms:created>
  <dcterms:modified xsi:type="dcterms:W3CDTF">2026-06-10T16:43:31Z</dcterms:modified>
</cp:coreProperties>
</file>